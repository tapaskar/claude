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what the IBM TSD fixes versus what we assumed — note alarms moved from 10M to 15M/day, which is what drives the heavy tier. Middle: the six sizing decisions. Right: measured capacity per model tier on H200, and where the tokens actually come from. The headline of this slide is that Change Management adds model tiers, not GPUs.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total in the TSD is right — 4 production H200 — and my independent measured model lands on the same number. The issue is the split: 3 cards for gpt-oss-120b and 1 dedicated to E5 leaves the heavy tier at 2.06 of 3, so the stated 2-active HA posture has no headroom. Freeing the E5 card fixes it at zero extra cost. Lead with the middle finding in a design review: four of the six model tiers the document describes have no node allocated.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spc="-40" kern="0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 FM + Change Management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8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Network AI Platform</a:t>
            </a:r>
            <a:pPr indent="0" marL="0">
              <a:buNone/>
            </a:pPr>
            <a:r>
              <a:rPr lang="en-US" sz="11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per the IBM SNOC TSD (20-08-26)   ·   15M alarms/day, H200 141GB, 3 model tiers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3545738" cy="5029200"/>
          </a:xfrm>
          <a:prstGeom prst="roundRect">
            <a:avLst>
              <a:gd name="adj" fmla="val 1289"/>
            </a:avLst>
          </a:prstGeom>
          <a:solidFill>
            <a:srgbClr val="FFFFFF"/>
          </a:solidFill>
          <a:ln w="9525">
            <a:solidFill>
              <a:srgbClr val="D9DC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" y="1554480"/>
            <a:ext cx="68580" cy="68580"/>
          </a:xfrm>
          <a:prstGeom prst="rect">
            <a:avLst/>
          </a:prstGeom>
          <a:solidFill>
            <a:srgbClr val="008E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481328"/>
            <a:ext cx="2997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1810512"/>
            <a:ext cx="31068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008E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— stated in the TSD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722376" y="2029968"/>
            <a:ext cx="310682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15M alarms/day, 1M-node topology graph  (§12)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52k batch / 5 min; 500k burst in &lt;180 s  (§12)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H200 141GB, FP8 / MXFP4 on vLLM  (§12, §3.7)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model tiers incl. VLM + E5  (§3.4.6, §3.7)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CHM agents, GUJ first → pan-India  (§6.8–6.13)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docs quarterly / bi-annual  (§5.1)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5 concurrent changes per circle  (§6.11)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22376" y="4023360"/>
            <a:ext cx="31068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B04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ASSUMED — planning values to validate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722376" y="4242816"/>
            <a:ext cx="31068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RAN-linked → 52.5k incidents/day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 of incidents earn a GenAI RFO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RFO = 3 turns × 6k in / 400 out tokens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CHM: 100 CRs/day GUJ → 1,250 pan-India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drop = 12 docs GUJ → 150 national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hour = 10% of the day → 2.4×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22376" y="5458968"/>
            <a:ext cx="3106826" cy="713232"/>
          </a:xfrm>
          <a:prstGeom prst="roundRect">
            <a:avLst>
              <a:gd name="adj" fmla="val 5128"/>
            </a:avLst>
          </a:prstGeom>
          <a:solidFill>
            <a:srgbClr val="EDEFE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50392" y="5541264"/>
            <a:ext cx="28507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7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Alarms moved 10M → 15M/day. 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TSD supersedes the August one-slide. That +50% is what pushes the heavy tier to 2.06 GPU.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22978" y="1298448"/>
            <a:ext cx="3545738" cy="5029200"/>
          </a:xfrm>
          <a:prstGeom prst="roundRect">
            <a:avLst>
              <a:gd name="adj" fmla="val 1289"/>
            </a:avLst>
          </a:prstGeom>
          <a:solidFill>
            <a:srgbClr val="FFFFFF"/>
          </a:solidFill>
          <a:ln w="9525">
            <a:solidFill>
              <a:srgbClr val="D9DCD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42434" y="1554480"/>
            <a:ext cx="68580" cy="68580"/>
          </a:xfrm>
          <a:prstGeom prst="rect">
            <a:avLst/>
          </a:prstGeom>
          <a:solidFill>
            <a:srgbClr val="008E7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688738" y="1481328"/>
            <a:ext cx="2997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POINTS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24146" y="182880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8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798466" y="1815084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tier, not by agent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798466" y="2020824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TSD already tiers: 120b for reasoning, Gemma for extraction, Llama 8B for MOPs. Size each, then add fractions.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524146" y="2587752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8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798466" y="2574036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SLO gate per tier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798466" y="2779776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Heavy: latency ≤30 s. Fast: TTFT ≤1.5 s, ITL ≤25 ms. MOP: ≤120 s — batch, it only has to land in the change window.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24146" y="3346704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8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798466" y="3332988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 for the target, not phase 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798466" y="3538728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 is pan-India from day one; CHM is GUJ first, pan-India after. The pool is bought once, so it is sized on the target state.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24146" y="4105656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8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798466" y="4091940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MOP generation as a burst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798466" y="4297680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docs are quarterly (§5.1): 150 docs → 2,250 MOPs in one window. A daily mean hides the only CHM spike.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524146" y="4864608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8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798466" y="4850892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Co-locate E5, do not dedicate it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798466" y="5056632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0.7 GB encoder at 0.03% utilisation does not need a 141 GB card. Freeing it makes all four cards heavy-capable.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524146" y="562356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8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798466" y="5609844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on H200, not H100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798466" y="5815584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 TB/s vs 3.35 — decode is bandwidth-bound, so ITL improves ~1.43×. Capacity is 7,008 tok/s, not 6,066.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143037" y="1298448"/>
            <a:ext cx="3545738" cy="5029200"/>
          </a:xfrm>
          <a:prstGeom prst="roundRect">
            <a:avLst>
              <a:gd name="adj" fmla="val 1289"/>
            </a:avLst>
          </a:prstGeom>
          <a:solidFill>
            <a:srgbClr val="FFFFFF"/>
          </a:solidFill>
          <a:ln w="9525">
            <a:solidFill>
              <a:srgbClr val="D9DC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62493" y="1554480"/>
            <a:ext cx="68580" cy="68580"/>
          </a:xfrm>
          <a:prstGeom prst="rect">
            <a:avLst/>
          </a:prstGeom>
          <a:solidFill>
            <a:srgbClr val="B04A1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508797" y="1481328"/>
            <a:ext cx="2997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PARAMETERS THAT MOVE IT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8362493" y="1773936"/>
            <a:ext cx="3106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one H200 141GB, gated per tier. GPU column is what pan-India peak demand needs.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660941" y="2194560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80" kern="0" dirty="0">
                <a:solidFill>
                  <a:srgbClr val="6A7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10301021" y="2194560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80" kern="0" dirty="0">
                <a:solidFill>
                  <a:srgbClr val="6A7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TOK/S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11032541" y="2194560"/>
            <a:ext cx="4367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80" kern="0" dirty="0">
                <a:solidFill>
                  <a:srgbClr val="B04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8362493" y="2414016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· gpt-oss-120b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9660941" y="2414016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6k/400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10301021" y="2414016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7,008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1032541" y="2414016"/>
            <a:ext cx="436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04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2.06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8362493" y="2688336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· Gemma 4 26B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660941" y="2688336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1.5k/200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10301021" y="2688336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20,936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11032541" y="2688336"/>
            <a:ext cx="436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0.16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8362493" y="2962656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mop · Llama 3.1 8B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9660941" y="2962656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12k/2.5k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10301021" y="2962656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7,733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1032541" y="2962656"/>
            <a:ext cx="436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0.17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362493" y="3291840"/>
            <a:ext cx="3106826" cy="0"/>
          </a:xfrm>
          <a:prstGeom prst="line">
            <a:avLst/>
          </a:prstGeom>
          <a:noFill/>
          <a:ln w="9525">
            <a:solidFill>
              <a:srgbClr val="D9DCD4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362493" y="334670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at pan-India peak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11032541" y="3346704"/>
            <a:ext cx="436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2.40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8362493" y="3803904"/>
            <a:ext cx="31068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80" kern="0" dirty="0">
                <a:solidFill>
                  <a:srgbClr val="6A7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TOKENS COME FROM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8362493" y="4110228"/>
            <a:ext cx="64008" cy="64008"/>
          </a:xfrm>
          <a:prstGeom prst="rect">
            <a:avLst/>
          </a:prstGeom>
          <a:solidFill>
            <a:srgbClr val="008E7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8527085" y="4041648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 · pan-India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10301021" y="404164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398M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11032541" y="4041648"/>
            <a:ext cx="436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7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82%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8362493" y="4366260"/>
            <a:ext cx="64008" cy="64008"/>
          </a:xfrm>
          <a:prstGeom prst="rect">
            <a:avLst/>
          </a:prstGeom>
          <a:solidFill>
            <a:srgbClr val="B04A12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527085" y="429768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CHM · pan-India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10301021" y="4297680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86M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11032541" y="4297680"/>
            <a:ext cx="436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04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18%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8362493" y="4622292"/>
            <a:ext cx="64008" cy="64008"/>
          </a:xfrm>
          <a:prstGeom prst="rect">
            <a:avLst/>
          </a:prstGeom>
          <a:solidFill>
            <a:srgbClr val="B04A12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8527085" y="455371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CHM · Gujarat only</a:t>
            </a:r>
            <a:endParaRPr lang="en-US" sz="950" dirty="0"/>
          </a:p>
        </p:txBody>
      </p:sp>
      <p:sp>
        <p:nvSpPr>
          <p:cNvPr id="67" name="Text 65"/>
          <p:cNvSpPr txBox="1"/>
          <p:nvPr/>
        </p:nvSpPr>
        <p:spPr>
          <a:xfrm>
            <a:off x="10301021" y="4553712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7.3M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11032541" y="4553712"/>
            <a:ext cx="4367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04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1.8%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8362493" y="5340096"/>
            <a:ext cx="3106826" cy="914400"/>
          </a:xfrm>
          <a:prstGeom prst="roundRect">
            <a:avLst>
              <a:gd name="adj" fmla="val 4000"/>
            </a:avLst>
          </a:prstGeom>
          <a:solidFill>
            <a:srgbClr val="EDEFE9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8490509" y="5431536"/>
            <a:ext cx="28507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4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CHM does not move the number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8490509" y="5650992"/>
            <a:ext cx="28507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pan-India it is 18% of tokens and 0.33 of a GPU. The alarm tier at 15M/day sets the fleet; CHM adds model tiers, not cards.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1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spc="-40" kern="0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TSD pool: right total, wrong split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demand lands on the TSD’s own 4 production H200</a:t>
            </a:r>
            <a:pPr indent="0" marL="0">
              <a:buNone/>
            </a:pPr>
            <a:r>
              <a:rPr lang="en-US" sz="115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but the heavy tier needs 2.06 of them, so “2 active for HA” has no headroom left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693594" cy="1481328"/>
          </a:xfrm>
          <a:prstGeom prst="roundRect">
            <a:avLst>
              <a:gd name="adj" fmla="val 3086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16736"/>
            <a:ext cx="2327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GPU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17904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indent="0" marL="0">
              <a:buNone/>
            </a:pPr>
            <a:r>
              <a:rPr lang="en-US" sz="1100" b="1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+1 × H200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048256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the TSD total.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serving + 1 for N+1.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33674" y="1188720"/>
            <a:ext cx="2693594" cy="1481328"/>
          </a:xfrm>
          <a:prstGeom prst="roundRect">
            <a:avLst>
              <a:gd name="adj" fmla="val 3086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16554" y="1316736"/>
            <a:ext cx="2327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TIER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3516554" y="1517904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2.06</a:t>
            </a:r>
            <a:pPr indent="0" marL="0">
              <a:buNone/>
            </a:pPr>
            <a:r>
              <a:rPr lang="en-US" sz="1100" b="1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3 cards</a:t>
            </a:r>
            <a:endParaRPr lang="en-US" sz="3100" dirty="0"/>
          </a:p>
        </p:txBody>
      </p:sp>
      <p:sp>
        <p:nvSpPr>
          <p:cNvPr id="11" name="Text 9"/>
          <p:cNvSpPr txBox="1"/>
          <p:nvPr/>
        </p:nvSpPr>
        <p:spPr>
          <a:xfrm>
            <a:off x="3516554" y="2048256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gpt-oss-120b alone, at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pan-India peak.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64428" y="1188720"/>
            <a:ext cx="2693594" cy="1481328"/>
          </a:xfrm>
          <a:prstGeom prst="roundRect">
            <a:avLst>
              <a:gd name="adj" fmla="val 3086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47308" y="1316736"/>
            <a:ext cx="2327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MGMT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347308" y="1517904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pPr indent="0" marL="0">
              <a:buNone/>
            </a:pPr>
            <a:r>
              <a:rPr lang="en-US" sz="1100" b="1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 of tokens</a:t>
            </a:r>
            <a:endParaRPr lang="en-US" sz="3100" dirty="0"/>
          </a:p>
        </p:txBody>
      </p:sp>
      <p:sp>
        <p:nvSpPr>
          <p:cNvPr id="15" name="Text 13"/>
          <p:cNvSpPr txBox="1"/>
          <p:nvPr/>
        </p:nvSpPr>
        <p:spPr>
          <a:xfrm>
            <a:off x="6347308" y="2048256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Pan-India, on a release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 day. 0.33 GPU.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995181" y="1188720"/>
            <a:ext cx="2693594" cy="1481328"/>
          </a:xfrm>
          <a:prstGeom prst="roundRect">
            <a:avLst>
              <a:gd name="adj" fmla="val 3086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78061" y="1316736"/>
            <a:ext cx="2327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E5 CARD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9178061" y="1517904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</a:t>
            </a:r>
            <a:pPr indent="0" marL="0">
              <a:buNone/>
            </a:pPr>
            <a:r>
              <a:rPr lang="en-US" sz="1100" b="1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 utilised</a:t>
            </a:r>
            <a:endParaRPr lang="en-US" sz="3100" dirty="0"/>
          </a:p>
        </p:txBody>
      </p:sp>
      <p:sp>
        <p:nvSpPr>
          <p:cNvPr id="19" name="Text 17"/>
          <p:cNvSpPr txBox="1"/>
          <p:nvPr/>
        </p:nvSpPr>
        <p:spPr>
          <a:xfrm>
            <a:off x="9178061" y="2048256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0.7 GB encoder on a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 GB card.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28346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 POSTURE AT PAN-INDIA PEAK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2920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cards healthy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of knee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comfortable — the normal state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600188" y="3465576"/>
            <a:ext cx="137160" cy="128016"/>
          </a:xfrm>
          <a:prstGeom prst="rightArrow">
            <a:avLst/>
          </a:prstGeom>
          <a:solidFill>
            <a:srgbClr val="CB6127"/>
          </a:solidFill>
          <a:ln/>
        </p:spPr>
      </p:sp>
      <p:sp>
        <p:nvSpPr>
          <p:cNvPr id="26" name="Shape 24"/>
          <p:cNvSpPr/>
          <p:nvPr/>
        </p:nvSpPr>
        <p:spPr>
          <a:xfrm>
            <a:off x="2787640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933944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active (TSD HA)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933944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72% of knee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933944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meets SLO, 30% headroom spent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884908" y="3465576"/>
            <a:ext cx="137160" cy="128016"/>
          </a:xfrm>
          <a:prstGeom prst="rightArrow">
            <a:avLst/>
          </a:prstGeom>
          <a:solidFill>
            <a:srgbClr val="CB6127"/>
          </a:solidFill>
          <a:ln/>
        </p:spPr>
      </p:sp>
      <p:sp>
        <p:nvSpPr>
          <p:cNvPr id="31" name="Shape 29"/>
          <p:cNvSpPr/>
          <p:nvPr/>
        </p:nvSpPr>
        <p:spPr>
          <a:xfrm>
            <a:off x="5072360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218664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surviving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218664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145% of knee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18664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breach at peak hour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357080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503384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the E5 card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7503384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heavy-capable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7503384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2-at-the-edge into 3-with-margin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9641799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788103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tiers covered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9788103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of 6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9788103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Gemma, Llama 8B and the VLM have no node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02920" y="4224528"/>
            <a:ext cx="3576218" cy="1700784"/>
          </a:xfrm>
          <a:prstGeom prst="roundRect">
            <a:avLst>
              <a:gd name="adj" fmla="val 2688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85800" y="4453128"/>
            <a:ext cx="68580" cy="685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32104" y="4370832"/>
            <a:ext cx="3064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CHM adds tiers, not cards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4663440"/>
            <a:ext cx="3210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Pan-India CHM is 18% of tokens and 0.33 of a GPU. What it really adds is two more model tiers to host — Llama 3.1 8B for MOP generation and heavier use of the Gemma fast tier — neither of which has a node in the §12 pool.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307738" y="4224528"/>
            <a:ext cx="3576218" cy="1700784"/>
          </a:xfrm>
          <a:prstGeom prst="roundRect">
            <a:avLst>
              <a:gd name="adj" fmla="val 2688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490618" y="4453128"/>
            <a:ext cx="68580" cy="68580"/>
          </a:xfrm>
          <a:prstGeom prst="rect">
            <a:avLst/>
          </a:prstGeom>
          <a:solidFill>
            <a:srgbClr val="CB61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636922" y="4370832"/>
            <a:ext cx="3064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§12 pool covers 2 of 6 models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90618" y="4663440"/>
            <a:ext cx="3210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allocates nodes for gpt-oss-120b and E5. Gemma 4 26B, Gemma 4 E4B, Llama 3.1 8B and the VLM are named elsewhere in the TSD with no allocation. Weights co-reside in 107 of 141 GB — but compute does not.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112557" y="4224528"/>
            <a:ext cx="3576218" cy="1700784"/>
          </a:xfrm>
          <a:prstGeom prst="roundRect">
            <a:avLst>
              <a:gd name="adj" fmla="val 2688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95437" y="4453128"/>
            <a:ext cx="68580" cy="685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8441741" y="4370832"/>
            <a:ext cx="3064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Reallocate rather than buy more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8295437" y="4663440"/>
            <a:ext cx="3210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 runs at 0.03% of one card. Co-locate it with the fast tier and all four cards become heavy-capable — the same spend, but three active at peak instead of two at the edge.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502920" y="6126480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E9E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 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GuideLLM operating points across the three model tiers the TSD names, calibrated to H200 141GB (4.8 TB/s — decode ~1.43× an H100, prefill held flat). Volumes are the TSD’s own: 15M alarms/day, 8 CHM agents, Gujarat in phase 1 and pan-India at target. The one thing arithmetic cannot settle is co-resident compute — that needs a run on the real card.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 AI-NOC Capacity Model</dc:title>
  <dc:subject>PptxGenJS Presentation</dc:subject>
  <dc:creator>Vi AI-NOC capacity model</dc:creator>
  <cp:lastModifiedBy>Vi AI-NOC capacity model</cp:lastModifiedBy>
  <cp:revision>1</cp:revision>
  <dcterms:created xsi:type="dcterms:W3CDTF">2026-09-01T05:58:03Z</dcterms:created>
  <dcterms:modified xsi:type="dcterms:W3CDTF">2026-09-01T05:58:03Z</dcterms:modified>
</cp:coreProperties>
</file>