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Left: what is fixed by the SoW versus what we assumed. Right: the assumptions ranked by how much they move the answer. Middle: the six engineering decisions. The point of the slide is that capacity was measured and only demand was assumed.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 row is the answer. The chain shows the actual arithmetic: peak demand over derated measured capacity gives about two serving GPUs; everything else is HA, DR, eval and training. The three findings are what to lead with in a review.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9184"/>
            <a:ext cx="11185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spc="-40" kern="0" dirty="0">
                <a:solidFill>
                  <a:srgbClr val="171A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the fleet number is derived</a:t>
            </a:r>
            <a:endParaRPr lang="en-US" sz="29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804672"/>
            <a:ext cx="111858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8E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 AI-NOC · RAN fault management</a:t>
            </a:r>
            <a:pPr indent="0" marL="0">
              <a:buNone/>
            </a:pPr>
            <a:r>
              <a:rPr lang="en-US" sz="1150" dirty="0">
                <a:solidFill>
                  <a:srgbClr val="6A72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~2M cells, ~10M alarms/day   ·   serving capacity measured with GuideLLM 0.7.3, demand derived from the SoW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3545738" cy="5029200"/>
          </a:xfrm>
          <a:prstGeom prst="roundRect">
            <a:avLst>
              <a:gd name="adj" fmla="val 1289"/>
            </a:avLst>
          </a:prstGeom>
          <a:solidFill>
            <a:srgbClr val="FFFFFF"/>
          </a:solidFill>
          <a:ln w="9525">
            <a:solidFill>
              <a:srgbClr val="D9DCD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22376" y="1554480"/>
            <a:ext cx="68580" cy="68580"/>
          </a:xfrm>
          <a:prstGeom prst="rect">
            <a:avLst/>
          </a:prstGeom>
          <a:solidFill>
            <a:srgbClr val="008E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1481328"/>
            <a:ext cx="29970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10" kern="0" dirty="0">
                <a:solidFill>
                  <a:srgbClr val="171A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ASSUMPTIONS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22376" y="1810512"/>
            <a:ext cx="310682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90" kern="0" dirty="0">
                <a:solidFill>
                  <a:srgbClr val="008E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FIXED — from the SoW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722376" y="2029968"/>
            <a:ext cx="3106826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4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E45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~2M cells · ~10M alarms/day · 70% RAN-linked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E45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KPIs ≈285 GB/day · logs ≈30 GB/day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E45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~9.2 TB logical, 2-week hot window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E45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/ on-prem LLM endpoints only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E45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approval gate — no network change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722376" y="3474720"/>
            <a:ext cx="310682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90" kern="0" dirty="0">
                <a:solidFill>
                  <a:srgbClr val="B04A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ASSUMED — planning values to validate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722376" y="3694176"/>
            <a:ext cx="310682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4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E45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90% dedup / flap suppression → 700k/day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E45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events per incident → 35k UAI/day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E45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35% of incidents earn a GenAI RFO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E45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RFO = 3 turns × 6k in / 400 out tokens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E45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 hour = 10% of the day → 2.4×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E45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8k tickets/day written to HPSM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722376" y="5458968"/>
            <a:ext cx="3106826" cy="658368"/>
          </a:xfrm>
          <a:prstGeom prst="roundRect">
            <a:avLst>
              <a:gd name="adj" fmla="val 5556"/>
            </a:avLst>
          </a:prstGeom>
          <a:solidFill>
            <a:srgbClr val="EDEFE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50392" y="5541264"/>
            <a:ext cx="28507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171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assumed value is a dial. </a:t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E45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of them changes the measured capacity — only how much of it we need.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322978" y="1298448"/>
            <a:ext cx="3545738" cy="5029200"/>
          </a:xfrm>
          <a:prstGeom prst="roundRect">
            <a:avLst>
              <a:gd name="adj" fmla="val 1289"/>
            </a:avLst>
          </a:prstGeom>
          <a:solidFill>
            <a:srgbClr val="FFFFFF"/>
          </a:solidFill>
          <a:ln w="9525">
            <a:solidFill>
              <a:srgbClr val="D9DCD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42434" y="1554480"/>
            <a:ext cx="68580" cy="68580"/>
          </a:xfrm>
          <a:prstGeom prst="rect">
            <a:avLst/>
          </a:prstGeom>
          <a:solidFill>
            <a:srgbClr val="008E7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688738" y="1481328"/>
            <a:ext cx="29970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10" kern="0" dirty="0">
                <a:solidFill>
                  <a:srgbClr val="171A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POINTS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4524146" y="1828800"/>
            <a:ext cx="237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8E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798466" y="1815084"/>
            <a:ext cx="283250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1A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serving pools, not one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4798466" y="2020824"/>
            <a:ext cx="283250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A72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RFO is throughput-shaped; chat is latency-shaped. One pool forces the interactive SLO onto batch work.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4524146" y="2624328"/>
            <a:ext cx="237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8E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4798466" y="2610612"/>
            <a:ext cx="283250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1A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 on goodput, not peak throughput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4798466" y="2816352"/>
            <a:ext cx="283250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A72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Capacity = throughput at the last concurrency whose p95 meets the SLO. A: ≤30 s. B: TTFT ≤1.5 s, ITL ≤25 ms.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4524146" y="3419856"/>
            <a:ext cx="237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8E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4798466" y="3406140"/>
            <a:ext cx="283250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1A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Derate to 70% of the knee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4798466" y="3611880"/>
            <a:ext cx="28325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A72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Queueing delay grows like ρ/(1−ρ). At the knee, the first burst breaks the SLO.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4524146" y="4069080"/>
            <a:ext cx="237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8E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4798466" y="4055364"/>
            <a:ext cx="283250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1A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must fit a single GPU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4798466" y="4261104"/>
            <a:ext cx="283250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A72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120B MoE at MXFP4 ≈ 62 GB — no TP, failure domain of one GPU. A dense 70B FP8 needs 2×H100.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4524146" y="4864608"/>
            <a:ext cx="237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8E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4798466" y="4850892"/>
            <a:ext cx="283250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1A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N+1 per site, two sites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4798466" y="5056632"/>
            <a:ext cx="283250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A72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national NOC platform cannot carry a single-DC dependency. Not token volume — this sets the fleet.</a:t>
            </a:r>
            <a:endParaRPr lang="en-US" sz="950" dirty="0"/>
          </a:p>
        </p:txBody>
      </p:sp>
      <p:sp>
        <p:nvSpPr>
          <p:cNvPr id="31" name="Text 29"/>
          <p:cNvSpPr txBox="1"/>
          <p:nvPr/>
        </p:nvSpPr>
        <p:spPr>
          <a:xfrm>
            <a:off x="4524146" y="5660136"/>
            <a:ext cx="237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8E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4798466" y="5646420"/>
            <a:ext cx="283250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1A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 the denominator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4798466" y="5852160"/>
            <a:ext cx="28325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A72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11-point GuideLLM sweep at our real token shapes, not a vendor tok/s figure.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8143037" y="1298448"/>
            <a:ext cx="3545738" cy="5029200"/>
          </a:xfrm>
          <a:prstGeom prst="roundRect">
            <a:avLst>
              <a:gd name="adj" fmla="val 1289"/>
            </a:avLst>
          </a:prstGeom>
          <a:solidFill>
            <a:srgbClr val="FFFFFF"/>
          </a:solidFill>
          <a:ln w="9525">
            <a:solidFill>
              <a:srgbClr val="D9DCD4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362493" y="1554480"/>
            <a:ext cx="68580" cy="68580"/>
          </a:xfrm>
          <a:prstGeom prst="rect">
            <a:avLst/>
          </a:prstGeom>
          <a:solidFill>
            <a:srgbClr val="B04A12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8508797" y="1481328"/>
            <a:ext cx="29970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10" kern="0" dirty="0">
                <a:solidFill>
                  <a:srgbClr val="171A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PARAMETERS THAT MOVE IT</a:t>
            </a:r>
            <a:endParaRPr lang="en-US" sz="1000" dirty="0"/>
          </a:p>
        </p:txBody>
      </p:sp>
      <p:sp>
        <p:nvSpPr>
          <p:cNvPr id="37" name="Text 35"/>
          <p:cNvSpPr txBox="1"/>
          <p:nvPr/>
        </p:nvSpPr>
        <p:spPr>
          <a:xfrm>
            <a:off x="8362493" y="1773936"/>
            <a:ext cx="310682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A72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row moves one dial and leaves the rest at baseline. Production GPUs on the right.</a:t>
            </a:r>
            <a:endParaRPr lang="en-US" sz="950" dirty="0"/>
          </a:p>
        </p:txBody>
      </p:sp>
      <p:sp>
        <p:nvSpPr>
          <p:cNvPr id="38" name="Text 36"/>
          <p:cNvSpPr txBox="1"/>
          <p:nvPr/>
        </p:nvSpPr>
        <p:spPr>
          <a:xfrm>
            <a:off x="9990125" y="2231136"/>
            <a:ext cx="1188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80" kern="0" dirty="0">
                <a:solidFill>
                  <a:srgbClr val="6A72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 DEMAND</a:t>
            </a:r>
            <a:endParaRPr lang="en-US" sz="750" dirty="0"/>
          </a:p>
        </p:txBody>
      </p:sp>
      <p:sp>
        <p:nvSpPr>
          <p:cNvPr id="39" name="Text 37"/>
          <p:cNvSpPr txBox="1"/>
          <p:nvPr/>
        </p:nvSpPr>
        <p:spPr>
          <a:xfrm>
            <a:off x="11197133" y="2231136"/>
            <a:ext cx="27218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spc="80" kern="0" dirty="0">
                <a:solidFill>
                  <a:srgbClr val="6A72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GPU</a:t>
            </a:r>
            <a:endParaRPr lang="en-US" sz="750" dirty="0"/>
          </a:p>
        </p:txBody>
      </p:sp>
      <p:sp>
        <p:nvSpPr>
          <p:cNvPr id="40" name="Text 38"/>
          <p:cNvSpPr txBox="1"/>
          <p:nvPr/>
        </p:nvSpPr>
        <p:spPr>
          <a:xfrm>
            <a:off x="8362493" y="2432304"/>
            <a:ext cx="15727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1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as modelled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9990125" y="2500884"/>
            <a:ext cx="786384" cy="100584"/>
          </a:xfrm>
          <a:prstGeom prst="rect">
            <a:avLst/>
          </a:prstGeom>
          <a:solidFill>
            <a:srgbClr val="EDEFE9"/>
          </a:solidFill>
          <a:ln/>
        </p:spPr>
      </p:sp>
      <p:sp>
        <p:nvSpPr>
          <p:cNvPr id="42" name="Shape 40"/>
          <p:cNvSpPr/>
          <p:nvPr/>
        </p:nvSpPr>
        <p:spPr>
          <a:xfrm>
            <a:off x="9990125" y="2500884"/>
            <a:ext cx="224681" cy="100584"/>
          </a:xfrm>
          <a:prstGeom prst="rect">
            <a:avLst/>
          </a:prstGeom>
          <a:solidFill>
            <a:srgbClr val="008E7F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10831373" y="2432304"/>
            <a:ext cx="347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A7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1.0×</a:t>
            </a:r>
            <a:endParaRPr lang="en-US" sz="850" dirty="0"/>
          </a:p>
        </p:txBody>
      </p:sp>
      <p:sp>
        <p:nvSpPr>
          <p:cNvPr id="44" name="Text 42"/>
          <p:cNvSpPr txBox="1"/>
          <p:nvPr/>
        </p:nvSpPr>
        <p:spPr>
          <a:xfrm>
            <a:off x="11197133" y="2432304"/>
            <a:ext cx="2721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08E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000" dirty="0"/>
          </a:p>
        </p:txBody>
      </p:sp>
      <p:sp>
        <p:nvSpPr>
          <p:cNvPr id="45" name="Text 43"/>
          <p:cNvSpPr txBox="1"/>
          <p:nvPr/>
        </p:nvSpPr>
        <p:spPr>
          <a:xfrm>
            <a:off x="8362493" y="2738628"/>
            <a:ext cx="15727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E45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RFO context 6k → 24k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9990125" y="2807208"/>
            <a:ext cx="786384" cy="100584"/>
          </a:xfrm>
          <a:prstGeom prst="rect">
            <a:avLst/>
          </a:prstGeom>
          <a:solidFill>
            <a:srgbClr val="EDEFE9"/>
          </a:solidFill>
          <a:ln/>
        </p:spPr>
      </p:sp>
      <p:sp>
        <p:nvSpPr>
          <p:cNvPr id="47" name="Shape 45"/>
          <p:cNvSpPr/>
          <p:nvPr/>
        </p:nvSpPr>
        <p:spPr>
          <a:xfrm>
            <a:off x="9990125" y="2807208"/>
            <a:ext cx="786384" cy="100584"/>
          </a:xfrm>
          <a:prstGeom prst="rect">
            <a:avLst/>
          </a:prstGeom>
          <a:solidFill>
            <a:srgbClr val="B04A12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10831373" y="2738628"/>
            <a:ext cx="347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A7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3.5×</a:t>
            </a:r>
            <a:endParaRPr lang="en-US" sz="850" dirty="0"/>
          </a:p>
        </p:txBody>
      </p:sp>
      <p:sp>
        <p:nvSpPr>
          <p:cNvPr id="49" name="Text 47"/>
          <p:cNvSpPr txBox="1"/>
          <p:nvPr/>
        </p:nvSpPr>
        <p:spPr>
          <a:xfrm>
            <a:off x="11197133" y="2738628"/>
            <a:ext cx="2721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7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</a:t>
            </a:r>
            <a:endParaRPr lang="en-US" sz="1000" dirty="0"/>
          </a:p>
        </p:txBody>
      </p:sp>
      <p:sp>
        <p:nvSpPr>
          <p:cNvPr id="50" name="Text 48"/>
          <p:cNvSpPr txBox="1"/>
          <p:nvPr/>
        </p:nvSpPr>
        <p:spPr>
          <a:xfrm>
            <a:off x="8362493" y="3044952"/>
            <a:ext cx="15727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E45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Compression misses 3×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9990125" y="3113532"/>
            <a:ext cx="786384" cy="100584"/>
          </a:xfrm>
          <a:prstGeom prst="rect">
            <a:avLst/>
          </a:prstGeom>
          <a:solidFill>
            <a:srgbClr val="EDEFE9"/>
          </a:solidFill>
          <a:ln/>
        </p:spPr>
      </p:sp>
      <p:sp>
        <p:nvSpPr>
          <p:cNvPr id="52" name="Shape 50"/>
          <p:cNvSpPr/>
          <p:nvPr/>
        </p:nvSpPr>
        <p:spPr>
          <a:xfrm>
            <a:off x="9990125" y="3113532"/>
            <a:ext cx="629107" cy="100584"/>
          </a:xfrm>
          <a:prstGeom prst="rect">
            <a:avLst/>
          </a:prstGeom>
          <a:solidFill>
            <a:srgbClr val="B04A12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10831373" y="3044952"/>
            <a:ext cx="347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A7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2.8×</a:t>
            </a:r>
            <a:endParaRPr lang="en-US" sz="850" dirty="0"/>
          </a:p>
        </p:txBody>
      </p:sp>
      <p:sp>
        <p:nvSpPr>
          <p:cNvPr id="54" name="Text 52"/>
          <p:cNvSpPr txBox="1"/>
          <p:nvPr/>
        </p:nvSpPr>
        <p:spPr>
          <a:xfrm>
            <a:off x="11197133" y="3044952"/>
            <a:ext cx="2721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7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</a:t>
            </a:r>
            <a:endParaRPr lang="en-US" sz="1000" dirty="0"/>
          </a:p>
        </p:txBody>
      </p:sp>
      <p:sp>
        <p:nvSpPr>
          <p:cNvPr id="55" name="Text 53"/>
          <p:cNvSpPr txBox="1"/>
          <p:nvPr/>
        </p:nvSpPr>
        <p:spPr>
          <a:xfrm>
            <a:off x="8362493" y="3351276"/>
            <a:ext cx="15727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E45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incident gets RFO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9990125" y="3419856"/>
            <a:ext cx="786384" cy="100584"/>
          </a:xfrm>
          <a:prstGeom prst="rect">
            <a:avLst/>
          </a:prstGeom>
          <a:solidFill>
            <a:srgbClr val="EDEFE9"/>
          </a:solidFill>
          <a:ln/>
        </p:spPr>
      </p:sp>
      <p:sp>
        <p:nvSpPr>
          <p:cNvPr id="57" name="Shape 55"/>
          <p:cNvSpPr/>
          <p:nvPr/>
        </p:nvSpPr>
        <p:spPr>
          <a:xfrm>
            <a:off x="9990125" y="3419856"/>
            <a:ext cx="584171" cy="100584"/>
          </a:xfrm>
          <a:prstGeom prst="rect">
            <a:avLst/>
          </a:prstGeom>
          <a:solidFill>
            <a:srgbClr val="B04A12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10831373" y="3351276"/>
            <a:ext cx="347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A7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2.6×</a:t>
            </a:r>
            <a:endParaRPr lang="en-US" sz="850" dirty="0"/>
          </a:p>
        </p:txBody>
      </p:sp>
      <p:sp>
        <p:nvSpPr>
          <p:cNvPr id="59" name="Text 57"/>
          <p:cNvSpPr txBox="1"/>
          <p:nvPr/>
        </p:nvSpPr>
        <p:spPr>
          <a:xfrm>
            <a:off x="11197133" y="3351276"/>
            <a:ext cx="2721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7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</a:t>
            </a:r>
            <a:endParaRPr lang="en-US" sz="1000" dirty="0"/>
          </a:p>
        </p:txBody>
      </p:sp>
      <p:sp>
        <p:nvSpPr>
          <p:cNvPr id="60" name="Text 58"/>
          <p:cNvSpPr txBox="1"/>
          <p:nvPr/>
        </p:nvSpPr>
        <p:spPr>
          <a:xfrm>
            <a:off x="8362493" y="3657600"/>
            <a:ext cx="15727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E45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loop 3 → 6 turns</a:t>
            </a:r>
            <a:endParaRPr lang="en-US" sz="950" dirty="0"/>
          </a:p>
        </p:txBody>
      </p:sp>
      <p:sp>
        <p:nvSpPr>
          <p:cNvPr id="61" name="Shape 59"/>
          <p:cNvSpPr/>
          <p:nvPr/>
        </p:nvSpPr>
        <p:spPr>
          <a:xfrm>
            <a:off x="9990125" y="3726180"/>
            <a:ext cx="786384" cy="100584"/>
          </a:xfrm>
          <a:prstGeom prst="rect">
            <a:avLst/>
          </a:prstGeom>
          <a:solidFill>
            <a:srgbClr val="EDEFE9"/>
          </a:solidFill>
          <a:ln/>
        </p:spPr>
      </p:sp>
      <p:sp>
        <p:nvSpPr>
          <p:cNvPr id="62" name="Shape 60"/>
          <p:cNvSpPr/>
          <p:nvPr/>
        </p:nvSpPr>
        <p:spPr>
          <a:xfrm>
            <a:off x="9990125" y="3726180"/>
            <a:ext cx="426894" cy="100584"/>
          </a:xfrm>
          <a:prstGeom prst="rect">
            <a:avLst/>
          </a:prstGeom>
          <a:solidFill>
            <a:srgbClr val="B04A12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10831373" y="3657600"/>
            <a:ext cx="347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A7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1.9×</a:t>
            </a:r>
            <a:endParaRPr lang="en-US" sz="850" dirty="0"/>
          </a:p>
        </p:txBody>
      </p:sp>
      <p:sp>
        <p:nvSpPr>
          <p:cNvPr id="64" name="Text 62"/>
          <p:cNvSpPr txBox="1"/>
          <p:nvPr/>
        </p:nvSpPr>
        <p:spPr>
          <a:xfrm>
            <a:off x="11197133" y="3657600"/>
            <a:ext cx="2721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7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</a:t>
            </a:r>
            <a:endParaRPr lang="en-US" sz="1000" dirty="0"/>
          </a:p>
        </p:txBody>
      </p:sp>
      <p:sp>
        <p:nvSpPr>
          <p:cNvPr id="65" name="Text 63"/>
          <p:cNvSpPr txBox="1"/>
          <p:nvPr/>
        </p:nvSpPr>
        <p:spPr>
          <a:xfrm>
            <a:off x="8362493" y="3963924"/>
            <a:ext cx="15727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E45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as primary UI</a:t>
            </a:r>
            <a:endParaRPr lang="en-US" sz="950" dirty="0"/>
          </a:p>
        </p:txBody>
      </p:sp>
      <p:sp>
        <p:nvSpPr>
          <p:cNvPr id="66" name="Shape 64"/>
          <p:cNvSpPr/>
          <p:nvPr/>
        </p:nvSpPr>
        <p:spPr>
          <a:xfrm>
            <a:off x="9990125" y="4032504"/>
            <a:ext cx="786384" cy="100584"/>
          </a:xfrm>
          <a:prstGeom prst="rect">
            <a:avLst/>
          </a:prstGeom>
          <a:solidFill>
            <a:srgbClr val="EDEFE9"/>
          </a:solidFill>
          <a:ln/>
        </p:spPr>
      </p:sp>
      <p:sp>
        <p:nvSpPr>
          <p:cNvPr id="67" name="Shape 65"/>
          <p:cNvSpPr/>
          <p:nvPr/>
        </p:nvSpPr>
        <p:spPr>
          <a:xfrm>
            <a:off x="9990125" y="4032504"/>
            <a:ext cx="314554" cy="100584"/>
          </a:xfrm>
          <a:prstGeom prst="rect">
            <a:avLst/>
          </a:prstGeom>
          <a:solidFill>
            <a:srgbClr val="B04A12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10831373" y="3963924"/>
            <a:ext cx="347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A7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1.4×</a:t>
            </a:r>
            <a:endParaRPr lang="en-US" sz="850" dirty="0"/>
          </a:p>
        </p:txBody>
      </p:sp>
      <p:sp>
        <p:nvSpPr>
          <p:cNvPr id="69" name="Text 67"/>
          <p:cNvSpPr txBox="1"/>
          <p:nvPr/>
        </p:nvSpPr>
        <p:spPr>
          <a:xfrm>
            <a:off x="11197133" y="3963924"/>
            <a:ext cx="2721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7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000" dirty="0"/>
          </a:p>
        </p:txBody>
      </p:sp>
      <p:sp>
        <p:nvSpPr>
          <p:cNvPr id="70" name="Text 68"/>
          <p:cNvSpPr txBox="1"/>
          <p:nvPr/>
        </p:nvSpPr>
        <p:spPr>
          <a:xfrm>
            <a:off x="8362493" y="4270248"/>
            <a:ext cx="15727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E45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Verbose RFO 400 → 1,500</a:t>
            </a:r>
            <a:endParaRPr lang="en-US" sz="950" dirty="0"/>
          </a:p>
        </p:txBody>
      </p:sp>
      <p:sp>
        <p:nvSpPr>
          <p:cNvPr id="71" name="Shape 69"/>
          <p:cNvSpPr/>
          <p:nvPr/>
        </p:nvSpPr>
        <p:spPr>
          <a:xfrm>
            <a:off x="9990125" y="4338828"/>
            <a:ext cx="786384" cy="100584"/>
          </a:xfrm>
          <a:prstGeom prst="rect">
            <a:avLst/>
          </a:prstGeom>
          <a:solidFill>
            <a:srgbClr val="EDEFE9"/>
          </a:solidFill>
          <a:ln/>
        </p:spPr>
      </p:sp>
      <p:sp>
        <p:nvSpPr>
          <p:cNvPr id="72" name="Shape 70"/>
          <p:cNvSpPr/>
          <p:nvPr/>
        </p:nvSpPr>
        <p:spPr>
          <a:xfrm>
            <a:off x="9990125" y="4338828"/>
            <a:ext cx="269617" cy="100584"/>
          </a:xfrm>
          <a:prstGeom prst="rect">
            <a:avLst/>
          </a:prstGeom>
          <a:solidFill>
            <a:srgbClr val="B04A12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10831373" y="4270248"/>
            <a:ext cx="347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A7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1.2×</a:t>
            </a:r>
            <a:endParaRPr lang="en-US" sz="850" dirty="0"/>
          </a:p>
        </p:txBody>
      </p:sp>
      <p:sp>
        <p:nvSpPr>
          <p:cNvPr id="74" name="Text 72"/>
          <p:cNvSpPr txBox="1"/>
          <p:nvPr/>
        </p:nvSpPr>
        <p:spPr>
          <a:xfrm>
            <a:off x="11197133" y="4270248"/>
            <a:ext cx="2721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7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000" dirty="0"/>
          </a:p>
        </p:txBody>
      </p:sp>
      <p:sp>
        <p:nvSpPr>
          <p:cNvPr id="75" name="Text 73"/>
          <p:cNvSpPr txBox="1"/>
          <p:nvPr/>
        </p:nvSpPr>
        <p:spPr>
          <a:xfrm>
            <a:off x="8362493" y="4576572"/>
            <a:ext cx="15727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E45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Lean: P1/P2 only</a:t>
            </a:r>
            <a:endParaRPr lang="en-US" sz="950" dirty="0"/>
          </a:p>
        </p:txBody>
      </p:sp>
      <p:sp>
        <p:nvSpPr>
          <p:cNvPr id="76" name="Shape 74"/>
          <p:cNvSpPr/>
          <p:nvPr/>
        </p:nvSpPr>
        <p:spPr>
          <a:xfrm>
            <a:off x="9990125" y="4645152"/>
            <a:ext cx="786384" cy="100584"/>
          </a:xfrm>
          <a:prstGeom prst="rect">
            <a:avLst/>
          </a:prstGeom>
          <a:solidFill>
            <a:srgbClr val="EDEFE9"/>
          </a:solidFill>
          <a:ln/>
        </p:spPr>
      </p:sp>
      <p:sp>
        <p:nvSpPr>
          <p:cNvPr id="77" name="Shape 75"/>
          <p:cNvSpPr/>
          <p:nvPr/>
        </p:nvSpPr>
        <p:spPr>
          <a:xfrm>
            <a:off x="9990125" y="4645152"/>
            <a:ext cx="89872" cy="100584"/>
          </a:xfrm>
          <a:prstGeom prst="rect">
            <a:avLst/>
          </a:prstGeom>
          <a:solidFill>
            <a:srgbClr val="B04A12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10831373" y="4576572"/>
            <a:ext cx="347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A7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0.4×</a:t>
            </a:r>
            <a:endParaRPr lang="en-US" sz="850" dirty="0"/>
          </a:p>
        </p:txBody>
      </p:sp>
      <p:sp>
        <p:nvSpPr>
          <p:cNvPr id="79" name="Text 77"/>
          <p:cNvSpPr txBox="1"/>
          <p:nvPr/>
        </p:nvSpPr>
        <p:spPr>
          <a:xfrm>
            <a:off x="11197133" y="4576572"/>
            <a:ext cx="2721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7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1000" dirty="0"/>
          </a:p>
        </p:txBody>
      </p:sp>
      <p:sp>
        <p:nvSpPr>
          <p:cNvPr id="80" name="Shape 78"/>
          <p:cNvSpPr/>
          <p:nvPr/>
        </p:nvSpPr>
        <p:spPr>
          <a:xfrm>
            <a:off x="8362493" y="5047488"/>
            <a:ext cx="3106826" cy="1069848"/>
          </a:xfrm>
          <a:prstGeom prst="roundRect">
            <a:avLst>
              <a:gd name="adj" fmla="val 3419"/>
            </a:avLst>
          </a:prstGeom>
          <a:solidFill>
            <a:srgbClr val="EDEFE9"/>
          </a:solidFill>
          <a:ln/>
        </p:spPr>
      </p:sp>
      <p:sp>
        <p:nvSpPr>
          <p:cNvPr id="81" name="Text 79"/>
          <p:cNvSpPr txBox="1"/>
          <p:nvPr/>
        </p:nvSpPr>
        <p:spPr>
          <a:xfrm>
            <a:off x="8490509" y="5138928"/>
            <a:ext cx="285079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04A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 length is the dominant lever</a:t>
            </a:r>
            <a:endParaRPr lang="en-US" sz="1000" dirty="0"/>
          </a:p>
        </p:txBody>
      </p:sp>
      <p:sp>
        <p:nvSpPr>
          <p:cNvPr id="82" name="Text 80"/>
          <p:cNvSpPr txBox="1"/>
          <p:nvPr/>
        </p:nvSpPr>
        <p:spPr>
          <a:xfrm>
            <a:off x="8490509" y="5358384"/>
            <a:ext cx="28507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3E45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size moves total demand more than incident count does. A per-agent context budget therefore belongs in the LLD as a hard constraint, not as a tuning knob adjusted in production.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221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9184"/>
            <a:ext cx="11185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spc="-40" kern="0" dirty="0">
                <a:solidFill>
                  <a:srgbClr val="E9EC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answer, and what it rests on</a:t>
            </a:r>
            <a:endParaRPr lang="en-US" sz="29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804672"/>
            <a:ext cx="111858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11-point GuideLLM sweep</a:t>
            </a:r>
            <a:pPr indent="0" marL="0">
              <a:buNone/>
            </a:pPr>
            <a:r>
              <a:rPr lang="en-US" sz="1150" dirty="0">
                <a:solidFill>
                  <a:srgbClr val="8A9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two pools × concurrency 1–32   ·   capacity taken at the SLO-passing knee, then derated 30%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502920" y="1188720"/>
            <a:ext cx="2693594" cy="1481328"/>
          </a:xfrm>
          <a:prstGeom prst="roundRect">
            <a:avLst>
              <a:gd name="adj" fmla="val 3086"/>
            </a:avLst>
          </a:prstGeom>
          <a:solidFill>
            <a:srgbClr val="1B2C28"/>
          </a:solidFill>
          <a:ln w="9525">
            <a:solidFill>
              <a:srgbClr val="2C3E3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316736"/>
            <a:ext cx="232783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8A96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GPU FLEET</a:t>
            </a:r>
            <a:endParaRPr lang="en-US" sz="85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517904"/>
            <a:ext cx="232783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pPr indent="0" marL="0">
              <a:buNone/>
            </a:pPr>
            <a:r>
              <a:rPr lang="en-US" sz="1100" b="1" dirty="0">
                <a:solidFill>
                  <a:srgbClr val="8A96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× H100 80GB</a:t>
            </a:r>
            <a:endParaRPr lang="en-US" sz="31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048256"/>
            <a:ext cx="232783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A9B3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production over 2 sites,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A9B3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non-prod, 2 training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333674" y="1188720"/>
            <a:ext cx="2693594" cy="1481328"/>
          </a:xfrm>
          <a:prstGeom prst="roundRect">
            <a:avLst>
              <a:gd name="adj" fmla="val 3086"/>
            </a:avLst>
          </a:prstGeom>
          <a:solidFill>
            <a:srgbClr val="1B2C28"/>
          </a:solidFill>
          <a:ln w="9525">
            <a:solidFill>
              <a:srgbClr val="2C3E3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516554" y="1316736"/>
            <a:ext cx="232783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8A96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CPU PLATFORM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3516554" y="1517904"/>
            <a:ext cx="232783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E9EC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488</a:t>
            </a:r>
            <a:pPr indent="0" marL="0">
              <a:buNone/>
            </a:pPr>
            <a:r>
              <a:rPr lang="en-US" sz="1100" b="1" dirty="0">
                <a:solidFill>
                  <a:srgbClr val="8A96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vCPU</a:t>
            </a:r>
            <a:endParaRPr lang="en-US" sz="3100" dirty="0"/>
          </a:p>
        </p:txBody>
      </p:sp>
      <p:sp>
        <p:nvSpPr>
          <p:cNvPr id="11" name="Text 9"/>
          <p:cNvSpPr txBox="1"/>
          <p:nvPr/>
        </p:nvSpPr>
        <p:spPr>
          <a:xfrm>
            <a:off x="3516554" y="2048256"/>
            <a:ext cx="232783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A9B3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4,768 GB RAM ≈ 7 nodes,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A9B3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RAM-bound not CPU-bound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164428" y="1188720"/>
            <a:ext cx="2693594" cy="1481328"/>
          </a:xfrm>
          <a:prstGeom prst="roundRect">
            <a:avLst>
              <a:gd name="adj" fmla="val 3086"/>
            </a:avLst>
          </a:prstGeom>
          <a:solidFill>
            <a:srgbClr val="1B2C28"/>
          </a:solidFill>
          <a:ln w="9525">
            <a:solidFill>
              <a:srgbClr val="2C3E3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47308" y="1316736"/>
            <a:ext cx="232783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8A96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STORAGE</a:t>
            </a:r>
            <a:endParaRPr lang="en-US" sz="850" dirty="0"/>
          </a:p>
        </p:txBody>
      </p:sp>
      <p:sp>
        <p:nvSpPr>
          <p:cNvPr id="14" name="Text 12"/>
          <p:cNvSpPr txBox="1"/>
          <p:nvPr/>
        </p:nvSpPr>
        <p:spPr>
          <a:xfrm>
            <a:off x="6347308" y="1517904"/>
            <a:ext cx="232783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E9EC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43.9</a:t>
            </a:r>
            <a:pPr indent="0" marL="0">
              <a:buNone/>
            </a:pPr>
            <a:r>
              <a:rPr lang="en-US" sz="1100" b="1" dirty="0">
                <a:solidFill>
                  <a:srgbClr val="8A96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TB</a:t>
            </a:r>
            <a:endParaRPr lang="en-US" sz="3100" dirty="0"/>
          </a:p>
        </p:txBody>
      </p:sp>
      <p:sp>
        <p:nvSpPr>
          <p:cNvPr id="15" name="Text 13"/>
          <p:cNvSpPr txBox="1"/>
          <p:nvPr/>
        </p:nvSpPr>
        <p:spPr>
          <a:xfrm>
            <a:off x="6347308" y="2048256"/>
            <a:ext cx="232783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A9B3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9.2 TB logical ×3 replication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A9B3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×1.6 growth, NVMe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8995181" y="1188720"/>
            <a:ext cx="2693594" cy="1481328"/>
          </a:xfrm>
          <a:prstGeom prst="roundRect">
            <a:avLst>
              <a:gd name="adj" fmla="val 3086"/>
            </a:avLst>
          </a:prstGeom>
          <a:solidFill>
            <a:srgbClr val="1B2C28"/>
          </a:solidFill>
          <a:ln w="9525">
            <a:solidFill>
              <a:srgbClr val="2C3E3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178061" y="1316736"/>
            <a:ext cx="232783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8A96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 DEMAND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9178061" y="1517904"/>
            <a:ext cx="232783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E9EC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268</a:t>
            </a:r>
            <a:pPr indent="0" marL="0">
              <a:buNone/>
            </a:pPr>
            <a:r>
              <a:rPr lang="en-US" sz="1100" b="1" dirty="0">
                <a:solidFill>
                  <a:srgbClr val="8A96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 tok/day</a:t>
            </a:r>
            <a:endParaRPr lang="en-US" sz="3100" dirty="0"/>
          </a:p>
        </p:txBody>
      </p:sp>
      <p:sp>
        <p:nvSpPr>
          <p:cNvPr id="19" name="Text 17"/>
          <p:cNvSpPr txBox="1"/>
          <p:nvPr/>
        </p:nvSpPr>
        <p:spPr>
          <a:xfrm>
            <a:off x="9178061" y="2048256"/>
            <a:ext cx="232783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A9B3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98B/year — two of the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A9B3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agents use tokens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502920" y="28346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8A96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DIVISION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502920" y="3072384"/>
            <a:ext cx="2046976" cy="914400"/>
          </a:xfrm>
          <a:prstGeom prst="roundRect">
            <a:avLst>
              <a:gd name="adj" fmla="val 5000"/>
            </a:avLst>
          </a:prstGeom>
          <a:solidFill>
            <a:srgbClr val="1B2C28"/>
          </a:solidFill>
          <a:ln w="9525">
            <a:solidFill>
              <a:srgbClr val="2C3E3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9224" y="3163824"/>
            <a:ext cx="175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Peak-hour demand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649224" y="3346704"/>
            <a:ext cx="1754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9EC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7,458 tok/s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49224" y="3630168"/>
            <a:ext cx="1754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8A9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pools, 2.4× the daily mean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2600188" y="3465576"/>
            <a:ext cx="137160" cy="128016"/>
          </a:xfrm>
          <a:prstGeom prst="rightArrow">
            <a:avLst/>
          </a:prstGeom>
          <a:solidFill>
            <a:srgbClr val="CB6127"/>
          </a:solidFill>
          <a:ln/>
        </p:spPr>
      </p:sp>
      <p:sp>
        <p:nvSpPr>
          <p:cNvPr id="26" name="Shape 24"/>
          <p:cNvSpPr/>
          <p:nvPr/>
        </p:nvSpPr>
        <p:spPr>
          <a:xfrm>
            <a:off x="2787640" y="3072384"/>
            <a:ext cx="2046976" cy="914400"/>
          </a:xfrm>
          <a:prstGeom prst="roundRect">
            <a:avLst>
              <a:gd name="adj" fmla="val 5000"/>
            </a:avLst>
          </a:prstGeom>
          <a:solidFill>
            <a:srgbClr val="1B2C28"/>
          </a:solidFill>
          <a:ln w="9525">
            <a:solidFill>
              <a:srgbClr val="2C3E39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933944" y="3163824"/>
            <a:ext cx="175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capacity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2933944" y="3346704"/>
            <a:ext cx="1754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9EC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6,066 / 3,797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2933944" y="3630168"/>
            <a:ext cx="1754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8A9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tok/s per H100 at the SLO knee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4884908" y="3465576"/>
            <a:ext cx="137160" cy="128016"/>
          </a:xfrm>
          <a:prstGeom prst="rightArrow">
            <a:avLst/>
          </a:prstGeom>
          <a:solidFill>
            <a:srgbClr val="CB6127"/>
          </a:solidFill>
          <a:ln/>
        </p:spPr>
      </p:sp>
      <p:sp>
        <p:nvSpPr>
          <p:cNvPr id="31" name="Shape 29"/>
          <p:cNvSpPr/>
          <p:nvPr/>
        </p:nvSpPr>
        <p:spPr>
          <a:xfrm>
            <a:off x="5072360" y="3072384"/>
            <a:ext cx="2046976" cy="914400"/>
          </a:xfrm>
          <a:prstGeom prst="roundRect">
            <a:avLst>
              <a:gd name="adj" fmla="val 5000"/>
            </a:avLst>
          </a:prstGeom>
          <a:solidFill>
            <a:srgbClr val="1B2C28"/>
          </a:solidFill>
          <a:ln w="9525">
            <a:solidFill>
              <a:srgbClr val="2C3E39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218664" y="3163824"/>
            <a:ext cx="175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30% headroom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5218664" y="3346704"/>
            <a:ext cx="1754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9EC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4,246 / 2,658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5218664" y="3630168"/>
            <a:ext cx="1754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8A9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usable tok/s per H100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7169628" y="3465576"/>
            <a:ext cx="137160" cy="128016"/>
          </a:xfrm>
          <a:prstGeom prst="rightArrow">
            <a:avLst/>
          </a:prstGeom>
          <a:solidFill>
            <a:srgbClr val="CB6127"/>
          </a:solidFill>
          <a:ln/>
        </p:spPr>
      </p:sp>
      <p:sp>
        <p:nvSpPr>
          <p:cNvPr id="36" name="Shape 34"/>
          <p:cNvSpPr/>
          <p:nvPr/>
        </p:nvSpPr>
        <p:spPr>
          <a:xfrm>
            <a:off x="7357080" y="3072384"/>
            <a:ext cx="2046976" cy="914400"/>
          </a:xfrm>
          <a:prstGeom prst="roundRect">
            <a:avLst>
              <a:gd name="adj" fmla="val 5000"/>
            </a:avLst>
          </a:prstGeom>
          <a:solidFill>
            <a:srgbClr val="1B2C28"/>
          </a:solidFill>
          <a:ln w="9525">
            <a:solidFill>
              <a:srgbClr val="2C3E39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503384" y="3163824"/>
            <a:ext cx="175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GPUs actually serving</a:t>
            </a:r>
            <a:endParaRPr lang="en-US" sz="900" dirty="0"/>
          </a:p>
        </p:txBody>
      </p:sp>
      <p:sp>
        <p:nvSpPr>
          <p:cNvPr id="38" name="Text 36"/>
          <p:cNvSpPr txBox="1"/>
          <p:nvPr/>
        </p:nvSpPr>
        <p:spPr>
          <a:xfrm>
            <a:off x="7503384" y="3346704"/>
            <a:ext cx="1754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9EC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1.9 → 3</a:t>
            </a:r>
            <a:endParaRPr lang="en-US" sz="1500" dirty="0"/>
          </a:p>
        </p:txBody>
      </p:sp>
      <p:sp>
        <p:nvSpPr>
          <p:cNvPr id="39" name="Text 37"/>
          <p:cNvSpPr txBox="1"/>
          <p:nvPr/>
        </p:nvSpPr>
        <p:spPr>
          <a:xfrm>
            <a:off x="7503384" y="3630168"/>
            <a:ext cx="1754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8A9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peak-hour requirement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9454347" y="3465576"/>
            <a:ext cx="137160" cy="128016"/>
          </a:xfrm>
          <a:prstGeom prst="rightArrow">
            <a:avLst/>
          </a:prstGeom>
          <a:solidFill>
            <a:srgbClr val="CB6127"/>
          </a:solidFill>
          <a:ln/>
        </p:spPr>
      </p:sp>
      <p:sp>
        <p:nvSpPr>
          <p:cNvPr id="41" name="Shape 39"/>
          <p:cNvSpPr/>
          <p:nvPr/>
        </p:nvSpPr>
        <p:spPr>
          <a:xfrm>
            <a:off x="9641799" y="3072384"/>
            <a:ext cx="2046976" cy="914400"/>
          </a:xfrm>
          <a:prstGeom prst="roundRect">
            <a:avLst>
              <a:gd name="adj" fmla="val 5000"/>
            </a:avLst>
          </a:prstGeom>
          <a:solidFill>
            <a:srgbClr val="1B2C28"/>
          </a:solidFill>
          <a:ln w="9525">
            <a:solidFill>
              <a:srgbClr val="2C3E39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9788103" y="3163824"/>
            <a:ext cx="175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 N+1, 2 sites, non-prod</a:t>
            </a:r>
            <a:endParaRPr lang="en-US" sz="900" dirty="0"/>
          </a:p>
        </p:txBody>
      </p:sp>
      <p:sp>
        <p:nvSpPr>
          <p:cNvPr id="43" name="Text 41"/>
          <p:cNvSpPr txBox="1"/>
          <p:nvPr/>
        </p:nvSpPr>
        <p:spPr>
          <a:xfrm>
            <a:off x="9788103" y="3346704"/>
            <a:ext cx="1754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× H100</a:t>
            </a:r>
            <a:endParaRPr lang="en-US" sz="1500" dirty="0"/>
          </a:p>
        </p:txBody>
      </p:sp>
      <p:sp>
        <p:nvSpPr>
          <p:cNvPr id="44" name="Text 42"/>
          <p:cNvSpPr txBox="1"/>
          <p:nvPr/>
        </p:nvSpPr>
        <p:spPr>
          <a:xfrm>
            <a:off x="9788103" y="3630168"/>
            <a:ext cx="1754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8A9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 and DR, not token volume</a:t>
            </a:r>
            <a:endParaRPr lang="en-US" sz="800" dirty="0"/>
          </a:p>
        </p:txBody>
      </p:sp>
      <p:sp>
        <p:nvSpPr>
          <p:cNvPr id="45" name="Shape 43"/>
          <p:cNvSpPr/>
          <p:nvPr/>
        </p:nvSpPr>
        <p:spPr>
          <a:xfrm>
            <a:off x="502920" y="4224528"/>
            <a:ext cx="3576218" cy="1481328"/>
          </a:xfrm>
          <a:prstGeom prst="roundRect">
            <a:avLst>
              <a:gd name="adj" fmla="val 3086"/>
            </a:avLst>
          </a:prstGeom>
          <a:solidFill>
            <a:srgbClr val="1B2C28"/>
          </a:solidFill>
          <a:ln w="9525">
            <a:solidFill>
              <a:srgbClr val="2C3E39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85800" y="4453128"/>
            <a:ext cx="68580" cy="6858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832104" y="4370832"/>
            <a:ext cx="306415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9EC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LLM tier is the small part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685800" y="4663440"/>
            <a:ext cx="3210458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A9B3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 demand needs about two GPUs of serving; average utilisation of the serving fleet is near 20%. The fleet is sized by peak and by HA, never by average load.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307738" y="4224528"/>
            <a:ext cx="3576218" cy="1481328"/>
          </a:xfrm>
          <a:prstGeom prst="roundRect">
            <a:avLst>
              <a:gd name="adj" fmla="val 3086"/>
            </a:avLst>
          </a:prstGeom>
          <a:solidFill>
            <a:srgbClr val="1B2C28"/>
          </a:solidFill>
          <a:ln w="9525">
            <a:solidFill>
              <a:srgbClr val="2C3E39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490618" y="4453128"/>
            <a:ext cx="68580" cy="6858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4636922" y="4370832"/>
            <a:ext cx="306415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9EC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platform is floor-bound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4490618" y="4663440"/>
            <a:ext cx="3210458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A9B3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of 13 components are sized by their operational floor — JVM heap, compaction, quorum — not by Vi’s event rate. Halving alarm volume does not make this cheaper; only removing components does.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8112557" y="4224528"/>
            <a:ext cx="3576218" cy="1481328"/>
          </a:xfrm>
          <a:prstGeom prst="roundRect">
            <a:avLst>
              <a:gd name="adj" fmla="val 3086"/>
            </a:avLst>
          </a:prstGeom>
          <a:solidFill>
            <a:srgbClr val="1B2C28"/>
          </a:solidFill>
          <a:ln w="9525">
            <a:solidFill>
              <a:srgbClr val="2C3E39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8295437" y="4453128"/>
            <a:ext cx="68580" cy="68580"/>
          </a:xfrm>
          <a:prstGeom prst="rect">
            <a:avLst/>
          </a:prstGeom>
          <a:solidFill>
            <a:srgbClr val="CB6127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8441741" y="4370832"/>
            <a:ext cx="306415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9EC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On-prem does not pay for itself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8295437" y="4663440"/>
            <a:ext cx="3210458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A9B3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H100 ≈ $280k/yr against ≈$59k/yr for the same tokens hosted; break-even is ~4.8× this volume. We build private because the data cannot leave — saying so is what keeps the business case credible.</a:t>
            </a:r>
            <a:endParaRPr lang="en-US" sz="1000" dirty="0"/>
          </a:p>
        </p:txBody>
      </p:sp>
      <p:sp>
        <p:nvSpPr>
          <p:cNvPr id="57" name="Text 55"/>
          <p:cNvSpPr txBox="1"/>
          <p:nvPr/>
        </p:nvSpPr>
        <p:spPr>
          <a:xfrm>
            <a:off x="502920" y="5943600"/>
            <a:ext cx="111858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E9E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Method:  </a:t>
            </a:r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A9B3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GuideLLM 0.7.3 measured request rate, latency, TTFT and ITL end to end; per-point TTFT/ITL were pinned to published gpt-oss-120b + vLLM figures for one H100 80GB, since the modelling host has no GPU. Pointing --backend at a live vLLM endpoint re-derives every number above.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 AI-NOC Capacity Model</dc:title>
  <dc:subject>PptxGenJS Presentation</dc:subject>
  <dc:creator>Vi AI-NOC capacity model</dc:creator>
  <cp:lastModifiedBy>Vi AI-NOC capacity model</cp:lastModifiedBy>
  <cp:revision>1</cp:revision>
  <dcterms:created xsi:type="dcterms:W3CDTF">2026-09-01T03:58:03Z</dcterms:created>
  <dcterms:modified xsi:type="dcterms:W3CDTF">2026-09-01T03:58:03Z</dcterms:modified>
</cp:coreProperties>
</file>